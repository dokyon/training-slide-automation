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731520"/>
            <a:ext cx="10972800" cy="1097280"/>
          </a:xfrm>
          <a:prstGeom prst="rect">
            <a:avLst/>
          </a:prstGeom>
          <a:noFill/>
          <a:ln/>
        </p:spPr>
        <p:txBody>
          <a:bodyPr wrap="square" rtlCol="0" anchor="ctr"/>
          <a:lstStyle/>
          <a:p>
            <a:pPr algn="l" indent="0" marL="0">
              <a:lnSpc>
                <a:spcPts val="3000"/>
              </a:lnSpc>
              <a:buNone/>
            </a:pPr>
            <a:r>
              <a:rPr lang="ja-JP" altLang="en-US" sz="3200" b="1" dirty="0">
                <a:solidFill>
                  <a:srgbClr val="333333"/>
                </a:solidFill>
                <a:latin typeface="Yu Gothic" pitchFamily="34" charset="0"/>
                <a:ea typeface="Yu Gothic" pitchFamily="34" charset="-122"/>
                <a:cs typeface="Yu Gothic" pitchFamily="34" charset="-120"/>
              </a:rPr>
              <a:t>ChatGPT導入研修 基礎編</a:t>
            </a:r>
            <a:endParaRPr lang="ja-JP" sz="3200" dirty="0"/>
          </a:p>
        </p:txBody>
      </p:sp>
      <p:sp>
        <p:nvSpPr>
          <p:cNvPr id="3" name="Text 1"/>
          <p:cNvSpPr/>
          <p:nvPr/>
        </p:nvSpPr>
        <p:spPr>
          <a:xfrm>
            <a:off x="1371600" y="2286000"/>
            <a:ext cx="10058400" cy="3657600"/>
          </a:xfrm>
          <a:prstGeom prst="rect">
            <a:avLst/>
          </a:prstGeom>
          <a:noFill/>
          <a:ln/>
        </p:spPr>
        <p:txBody>
          <a:bodyPr wrap="square" rtlCol="0" anchor="t"/>
          <a:lstStyle/>
          <a:p>
            <a:pPr algn="l" indent="0" marL="0">
              <a:lnSpc>
                <a:spcPts val="2800"/>
              </a:lnSpc>
              <a:buNone/>
            </a:pPr>
            <a:r>
              <a:rPr lang="ja-JP" altLang="en-US" sz="1600" dirty="0">
                <a:solidFill>
                  <a:srgbClr val="666666"/>
                </a:solidFill>
                <a:latin typeface="Yu Gothic" pitchFamily="34" charset="0"/>
                <a:ea typeface="Yu Gothic" pitchFamily="34" charset="-122"/>
                <a:cs typeface="Yu Gothic" pitchFamily="34" charset="-120"/>
              </a:rPr>
              <a:t>1.  DX（視聴：約45分）</a:t>
            </a:r>
            <a:endParaRPr lang="ja-JP" sz="1600" dirty="0"/>
          </a:p>
          <a:p>
            <a:pPr algn="l" indent="0" marL="0">
              <a:lnSpc>
                <a:spcPts val="2800"/>
              </a:lnSpc>
              <a:buNone/>
            </a:pPr>
            <a:endParaRPr lang="ja-JP" sz="1600" dirty="0"/>
          </a:p>
          <a:p>
            <a:pPr algn="l" indent="0" marL="0">
              <a:lnSpc>
                <a:spcPts val="2800"/>
              </a:lnSpc>
              <a:buNone/>
            </a:pPr>
            <a:r>
              <a:rPr lang="ja-JP" altLang="en-US" sz="1600" dirty="0">
                <a:solidFill>
                  <a:srgbClr val="666666"/>
                </a:solidFill>
                <a:latin typeface="Yu Gothic" pitchFamily="34" charset="0"/>
                <a:ea typeface="Yu Gothic" pitchFamily="34" charset="-122"/>
                <a:cs typeface="Yu Gothic" pitchFamily="34" charset="-120"/>
              </a:rPr>
              <a:t>2.  AIの進化・大規模言語モデル（視聴：約1時間20分）</a:t>
            </a:r>
            <a:endParaRPr lang="ja-JP" sz="1600" dirty="0"/>
          </a:p>
          <a:p>
            <a:pPr algn="l" indent="0" marL="0">
              <a:lnSpc>
                <a:spcPts val="2800"/>
              </a:lnSpc>
              <a:buNone/>
            </a:pPr>
            <a:endParaRPr lang="ja-JP" sz="1600" dirty="0"/>
          </a:p>
          <a:p>
            <a:pPr algn="l" indent="0" marL="0">
              <a:lnSpc>
                <a:spcPts val="2800"/>
              </a:lnSpc>
              <a:buNone/>
            </a:pPr>
            <a:r>
              <a:rPr lang="ja-JP" altLang="en-US" sz="1600" dirty="0">
                <a:solidFill>
                  <a:srgbClr val="666666"/>
                </a:solidFill>
                <a:latin typeface="Yu Gothic" pitchFamily="34" charset="0"/>
                <a:ea typeface="Yu Gothic" pitchFamily="34" charset="-122"/>
                <a:cs typeface="Yu Gothic" pitchFamily="34" charset="-120"/>
              </a:rPr>
              <a:t>3.  ChatGPTの利用動向（視聴：約25分）</a:t>
            </a:r>
            <a:endParaRPr lang="ja-JP" sz="1600" dirty="0"/>
          </a:p>
          <a:p>
            <a:pPr algn="l" indent="0" marL="0">
              <a:lnSpc>
                <a:spcPts val="2800"/>
              </a:lnSpc>
              <a:buNone/>
            </a:pPr>
            <a:endParaRPr lang="ja-JP" sz="1600" dirty="0"/>
          </a:p>
          <a:p>
            <a:pPr algn="l" indent="0" marL="0">
              <a:lnSpc>
                <a:spcPts val="2800"/>
              </a:lnSpc>
              <a:buNone/>
            </a:pPr>
            <a:r>
              <a:rPr lang="ja-JP" altLang="en-US" sz="1600" dirty="0">
                <a:solidFill>
                  <a:srgbClr val="666666"/>
                </a:solidFill>
                <a:latin typeface="Yu Gothic" pitchFamily="34" charset="0"/>
                <a:ea typeface="Yu Gothic" pitchFamily="34" charset="-122"/>
                <a:cs typeface="Yu Gothic" pitchFamily="34" charset="-120"/>
              </a:rPr>
              <a:t>4.  ChatGPT基礎編（実践含む：約30分）</a:t>
            </a:r>
            <a:endParaRPr lang="ja-JP" sz="1600" dirty="0"/>
          </a:p>
          <a:p>
            <a:pPr algn="l" indent="0" marL="0">
              <a:lnSpc>
                <a:spcPts val="2800"/>
              </a:lnSpc>
              <a:buNone/>
            </a:pPr>
            <a:endParaRPr lang="ja-JP" sz="1600" dirty="0"/>
          </a:p>
          <a:p>
            <a:pPr algn="l" indent="0" marL="0">
              <a:lnSpc>
                <a:spcPts val="2800"/>
              </a:lnSpc>
              <a:buNone/>
            </a:pPr>
            <a:r>
              <a:rPr lang="ja-JP" altLang="en-US" sz="1600" dirty="0">
                <a:solidFill>
                  <a:srgbClr val="666666"/>
                </a:solidFill>
                <a:latin typeface="Yu Gothic" pitchFamily="34" charset="0"/>
                <a:ea typeface="Yu Gothic" pitchFamily="34" charset="-122"/>
                <a:cs typeface="Yu Gothic" pitchFamily="34" charset="-120"/>
              </a:rPr>
              <a:t>5.  プロンプトエンジニアリング（実践含む：約7時間）</a:t>
            </a:r>
            <a:endParaRPr lang="ja-JP" sz="1600" dirty="0"/>
          </a:p>
          <a:p>
            <a:pPr algn="l" indent="0" marL="0">
              <a:lnSpc>
                <a:spcPts val="2800"/>
              </a:lnSpc>
              <a:buNone/>
            </a:pPr>
            <a:endParaRPr lang="ja-JP" sz="1600" dirty="0"/>
          </a:p>
          <a:p>
            <a:pPr algn="l" indent="0" marL="0">
              <a:lnSpc>
                <a:spcPts val="2800"/>
              </a:lnSpc>
              <a:buNone/>
            </a:pPr>
            <a:r>
              <a:rPr lang="ja-JP" altLang="en-US" sz="1600" dirty="0">
                <a:solidFill>
                  <a:srgbClr val="666666"/>
                </a:solidFill>
                <a:latin typeface="Yu Gothic" pitchFamily="34" charset="0"/>
                <a:ea typeface="Yu Gothic" pitchFamily="34" charset="-122"/>
                <a:cs typeface="Yu Gothic" pitchFamily="34" charset="-120"/>
              </a:rPr>
              <a:t>6.  ChatGPTの応用について（視聴：約10分）</a:t>
            </a:r>
            <a:endParaRPr lang="ja-JP" sz="1600" dirty="0"/>
          </a:p>
        </p:txBody>
      </p:sp>
      <p:sp>
        <p:nvSpPr>
          <p:cNvPr id="4" name="Text 2"/>
          <p:cNvSpPr/>
          <p:nvPr/>
        </p:nvSpPr>
        <p:spPr>
          <a:xfrm>
            <a:off x="274320" y="6400800"/>
            <a:ext cx="2743200" cy="274320"/>
          </a:xfrm>
          <a:prstGeom prst="rect">
            <a:avLst/>
          </a:prstGeom>
          <a:noFill/>
          <a:ln/>
        </p:spPr>
        <p:txBody>
          <a:bodyPr wrap="square" rtlCol="0" anchor="ctr"/>
          <a:lstStyle/>
          <a:p>
            <a:pPr indent="0" marL="0">
              <a:buNone/>
            </a:pPr>
            <a:r>
              <a:rPr lang="en-US" sz="1000" dirty="0">
                <a:solidFill>
                  <a:srgbClr val="999999"/>
                </a:solidFill>
              </a:rPr>
              <a:t>© Stella Co., Ltd.</a:t>
            </a:r>
            <a:endParaRPr lang="en-US" sz="1000" dirty="0"/>
          </a:p>
        </p:txBody>
      </p:sp>
      <p:sp>
        <p:nvSpPr>
          <p:cNvPr id="5" name="Text 3"/>
          <p:cNvSpPr/>
          <p:nvPr/>
        </p:nvSpPr>
        <p:spPr>
          <a:xfrm>
            <a:off x="10058400" y="182880"/>
            <a:ext cx="1828800" cy="274320"/>
          </a:xfrm>
          <a:prstGeom prst="rect">
            <a:avLst/>
          </a:prstGeom>
          <a:noFill/>
          <a:ln/>
        </p:spPr>
        <p:txBody>
          <a:bodyPr wrap="square" rtlCol="0" anchor="ctr"/>
          <a:lstStyle/>
          <a:p>
            <a:pPr algn="r" indent="0" marL="0">
              <a:buNone/>
            </a:pPr>
            <a:r>
              <a:rPr lang="en-US" sz="1000" dirty="0">
                <a:solidFill>
                  <a:srgbClr val="999999"/>
                </a:solidFill>
              </a:rPr>
              <a:t>Stella Co., Ltd.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731520"/>
          </a:xfrm>
          <a:prstGeom prst="rect">
            <a:avLst/>
          </a:prstGeom>
          <a:noFill/>
          <a:ln/>
        </p:spPr>
        <p:txBody>
          <a:bodyPr wrap="square" rtlCol="0" anchor="ctr"/>
          <a:lstStyle/>
          <a:p>
            <a:pPr algn="l" indent="0" marL="0">
              <a:buNone/>
            </a:pPr>
            <a:r>
              <a:rPr lang="ja-JP" altLang="en-US" sz="2400" b="1" dirty="0">
                <a:solidFill>
                  <a:srgbClr val="333333"/>
                </a:solidFill>
                <a:latin typeface="Yu Gothic" pitchFamily="34" charset="0"/>
                <a:ea typeface="Yu Gothic" pitchFamily="34" charset="-122"/>
                <a:cs typeface="Yu Gothic" pitchFamily="34" charset="-120"/>
              </a:rPr>
              <a:t>はじめに</a:t>
            </a:r>
            <a:endParaRPr lang="ja-JP" sz="2400" dirty="0"/>
          </a:p>
        </p:txBody>
      </p:sp>
      <p:sp>
        <p:nvSpPr>
          <p:cNvPr id="3" name="Text 1"/>
          <p:cNvSpPr/>
          <p:nvPr/>
        </p:nvSpPr>
        <p:spPr>
          <a:xfrm>
            <a:off x="731520" y="1371600"/>
            <a:ext cx="10972800" cy="914400"/>
          </a:xfrm>
          <a:prstGeom prst="rect">
            <a:avLst/>
          </a:prstGeom>
          <a:noFill/>
          <a:ln/>
        </p:spPr>
        <p:txBody>
          <a:bodyPr wrap="square" rtlCol="0" anchor="t"/>
          <a:lstStyle/>
          <a:p>
            <a:pPr algn="l" indent="0" marL="0">
              <a:lnSpc>
                <a:spcPts val="2600"/>
              </a:lnSpc>
              <a:buNone/>
            </a:pPr>
            <a:r>
              <a:rPr lang="ja-JP" altLang="en-US" sz="1500" dirty="0">
                <a:solidFill>
                  <a:srgbClr val="666666"/>
                </a:solidFill>
                <a:latin typeface="Yu Gothic" pitchFamily="34" charset="0"/>
                <a:ea typeface="Yu Gothic" pitchFamily="34" charset="-122"/>
                <a:cs typeface="Yu Gothic" pitchFamily="34" charset="-120"/>
              </a:rPr>
              <a:t>本研修で解説する内容は、受講タイミングによって、各サービスの仕様変更などに伴い、手順などが変更されている可能性があります。</a:t>
            </a:r>
            <a:endParaRPr lang="ja-JP" sz="1500" dirty="0"/>
          </a:p>
        </p:txBody>
      </p:sp>
      <p:sp>
        <p:nvSpPr>
          <p:cNvPr id="4" name="Text 2"/>
          <p:cNvSpPr/>
          <p:nvPr/>
        </p:nvSpPr>
        <p:spPr>
          <a:xfrm>
            <a:off x="274320" y="6400800"/>
            <a:ext cx="2743200" cy="274320"/>
          </a:xfrm>
          <a:prstGeom prst="rect">
            <a:avLst/>
          </a:prstGeom>
          <a:noFill/>
          <a:ln/>
        </p:spPr>
        <p:txBody>
          <a:bodyPr wrap="square" rtlCol="0" anchor="ctr"/>
          <a:lstStyle/>
          <a:p>
            <a:pPr indent="0" marL="0">
              <a:buNone/>
            </a:pPr>
            <a:r>
              <a:rPr lang="en-US" sz="1000" dirty="0">
                <a:solidFill>
                  <a:srgbClr val="999999"/>
                </a:solidFill>
              </a:rPr>
              <a:t>© Stella Co., Ltd.</a:t>
            </a:r>
            <a:endParaRPr lang="en-US" sz="1000" dirty="0"/>
          </a:p>
        </p:txBody>
      </p:sp>
      <p:sp>
        <p:nvSpPr>
          <p:cNvPr id="5" name="Text 3"/>
          <p:cNvSpPr/>
          <p:nvPr/>
        </p:nvSpPr>
        <p:spPr>
          <a:xfrm>
            <a:off x="10058400" y="182880"/>
            <a:ext cx="1828800" cy="274320"/>
          </a:xfrm>
          <a:prstGeom prst="rect">
            <a:avLst/>
          </a:prstGeom>
          <a:noFill/>
          <a:ln/>
        </p:spPr>
        <p:txBody>
          <a:bodyPr wrap="square" rtlCol="0" anchor="ctr"/>
          <a:lstStyle/>
          <a:p>
            <a:pPr algn="r" indent="0" marL="0">
              <a:buNone/>
            </a:pPr>
            <a:r>
              <a:rPr lang="en-US" sz="1000" dirty="0">
                <a:solidFill>
                  <a:srgbClr val="999999"/>
                </a:solidFill>
              </a:rPr>
              <a:t>Stella Co., Ltd.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5FB8A6"/>
        </a:solidFill>
      </p:bgPr>
    </p:bg>
    <p:spTree>
      <p:nvGrpSpPr>
        <p:cNvPr id="1" name=""/>
        <p:cNvGrpSpPr/>
        <p:nvPr/>
      </p:nvGrpSpPr>
      <p:grpSpPr>
        <a:xfrm>
          <a:off x="0" y="0"/>
          <a:ext cx="0" cy="0"/>
          <a:chOff x="0" y="0"/>
          <a:chExt cx="0" cy="0"/>
        </a:xfrm>
      </p:grpSpPr>
      <p:sp>
        <p:nvSpPr>
          <p:cNvPr id="2" name="Shape 0"/>
          <p:cNvSpPr/>
          <p:nvPr/>
        </p:nvSpPr>
        <p:spPr>
          <a:xfrm>
            <a:off x="457200" y="1371600"/>
            <a:ext cx="2743200" cy="2743200"/>
          </a:xfrm>
          <a:prstGeom prst="rect">
            <a:avLst/>
          </a:prstGeom>
          <a:solidFill>
            <a:srgbClr val="FFFFFF">
              <a:alpha val="10000"/>
            </a:srgbClr>
          </a:solidFill>
          <a:ln w="25400">
            <a:solidFill>
              <a:srgbClr val="FFFFFF"/>
            </a:solidFill>
            <a:prstDash val="solid"/>
          </a:ln>
        </p:spPr>
      </p:sp>
      <p:sp>
        <p:nvSpPr>
          <p:cNvPr id="3" name="Text 1"/>
          <p:cNvSpPr/>
          <p:nvPr/>
        </p:nvSpPr>
        <p:spPr>
          <a:xfrm>
            <a:off x="914400" y="1828800"/>
            <a:ext cx="5486400" cy="1828800"/>
          </a:xfrm>
          <a:prstGeom prst="rect">
            <a:avLst/>
          </a:prstGeom>
          <a:noFill/>
          <a:ln/>
        </p:spPr>
        <p:txBody>
          <a:bodyPr wrap="square" rtlCol="0" anchor="ctr"/>
          <a:lstStyle/>
          <a:p>
            <a:pPr indent="0" marL="0">
              <a:buNone/>
            </a:pPr>
            <a:r>
              <a:rPr lang="en-US" sz="4800" b="1" dirty="0">
                <a:solidFill>
                  <a:srgbClr val="FFFFFF"/>
                </a:solidFill>
              </a:rPr>
              <a:t>1. DX</a:t>
            </a:r>
            <a:endParaRPr lang="en-US" sz="4800" dirty="0"/>
          </a:p>
        </p:txBody>
      </p:sp>
      <p:sp>
        <p:nvSpPr>
          <p:cNvPr id="4" name="Text 2"/>
          <p:cNvSpPr/>
          <p:nvPr/>
        </p:nvSpPr>
        <p:spPr>
          <a:xfrm>
            <a:off x="6400800" y="2286000"/>
            <a:ext cx="3657600" cy="2743200"/>
          </a:xfrm>
          <a:prstGeom prst="rect">
            <a:avLst/>
          </a:prstGeom>
          <a:noFill/>
          <a:ln/>
        </p:spPr>
        <p:txBody>
          <a:bodyPr wrap="square" rtlCol="0" anchor="ctr"/>
          <a:lstStyle/>
          <a:p>
            <a:pPr algn="ctr" indent="0" marL="0">
              <a:buNone/>
            </a:pPr>
            <a:r>
              <a:rPr lang="en-US" sz="2400" dirty="0">
                <a:solidFill>
                  <a:srgbClr val="FFFFFF"/>
                </a:solidFill>
              </a:rPr>
              <a:t>🎨</a:t>
            </a:r>
            <a:endParaRPr lang="en-US" sz="2400" dirty="0"/>
          </a:p>
          <a:p>
            <a:pPr algn="ctr" indent="0" marL="0">
              <a:buNone/>
            </a:pPr>
            <a:r>
              <a:rPr lang="en-US" sz="2400" dirty="0">
                <a:solidFill>
                  <a:srgbClr val="FFFFFF"/>
                </a:solidFill>
              </a:rPr>
              <a:t>Illustration</a:t>
            </a:r>
            <a:endParaRPr lang="en-US" sz="2400" dirty="0"/>
          </a:p>
        </p:txBody>
      </p:sp>
      <p:sp>
        <p:nvSpPr>
          <p:cNvPr id="5" name="Text 3"/>
          <p:cNvSpPr/>
          <p:nvPr/>
        </p:nvSpPr>
        <p:spPr>
          <a:xfrm>
            <a:off x="274320" y="6400800"/>
            <a:ext cx="2743200" cy="274320"/>
          </a:xfrm>
          <a:prstGeom prst="rect">
            <a:avLst/>
          </a:prstGeom>
          <a:noFill/>
          <a:ln/>
        </p:spPr>
        <p:txBody>
          <a:bodyPr wrap="square" rtlCol="0" anchor="ctr"/>
          <a:lstStyle/>
          <a:p>
            <a:pPr indent="0" marL="0">
              <a:buNone/>
            </a:pPr>
            <a:r>
              <a:rPr lang="en-US" sz="1000" dirty="0">
                <a:solidFill>
                  <a:srgbClr val="FFFFFF"/>
                </a:solidFill>
              </a:rPr>
              <a:t>© Stella Co., Ltd.</a:t>
            </a:r>
            <a:endParaRPr lang="en-US" sz="1000" dirty="0"/>
          </a:p>
        </p:txBody>
      </p:sp>
      <p:sp>
        <p:nvSpPr>
          <p:cNvPr id="6" name="Text 4"/>
          <p:cNvSpPr/>
          <p:nvPr/>
        </p:nvSpPr>
        <p:spPr>
          <a:xfrm>
            <a:off x="10058400" y="182880"/>
            <a:ext cx="1828800" cy="274320"/>
          </a:xfrm>
          <a:prstGeom prst="rect">
            <a:avLst/>
          </a:prstGeom>
          <a:noFill/>
          <a:ln/>
        </p:spPr>
        <p:txBody>
          <a:bodyPr wrap="square" rtlCol="0" anchor="ctr"/>
          <a:lstStyle/>
          <a:p>
            <a:pPr algn="r" indent="0" marL="0">
              <a:buNone/>
            </a:pPr>
            <a:r>
              <a:rPr lang="en-US" sz="1000" dirty="0">
                <a:solidFill>
                  <a:srgbClr val="FFFFFF"/>
                </a:solidFill>
              </a:rPr>
              <a:t>Stella Co., Ltd.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731520"/>
          </a:xfrm>
          <a:prstGeom prst="rect">
            <a:avLst/>
          </a:prstGeom>
          <a:noFill/>
          <a:ln/>
        </p:spPr>
        <p:txBody>
          <a:bodyPr wrap="square" rtlCol="0" anchor="ctr"/>
          <a:lstStyle/>
          <a:p>
            <a:pPr algn="l" indent="0" marL="0">
              <a:buNone/>
            </a:pPr>
            <a:r>
              <a:rPr lang="ja-JP" altLang="en-US" sz="2400" b="1" dirty="0">
                <a:solidFill>
                  <a:srgbClr val="333333"/>
                </a:solidFill>
                <a:latin typeface="Yu Gothic" pitchFamily="34" charset="0"/>
                <a:ea typeface="Yu Gothic" pitchFamily="34" charset="-122"/>
                <a:cs typeface="Yu Gothic" pitchFamily="34" charset="-120"/>
              </a:rPr>
              <a:t>1-2. ChatGPTの確率論的文章生成と回答の特徴</a:t>
            </a:r>
            <a:endParaRPr lang="ja-JP" sz="2400" dirty="0"/>
          </a:p>
        </p:txBody>
      </p:sp>
      <p:sp>
        <p:nvSpPr>
          <p:cNvPr id="3" name="Text 1"/>
          <p:cNvSpPr/>
          <p:nvPr/>
        </p:nvSpPr>
        <p:spPr>
          <a:xfrm>
            <a:off x="731520" y="1371600"/>
            <a:ext cx="10972800" cy="914400"/>
          </a:xfrm>
          <a:prstGeom prst="rect">
            <a:avLst/>
          </a:prstGeom>
          <a:noFill/>
          <a:ln/>
        </p:spPr>
        <p:txBody>
          <a:bodyPr wrap="square" rtlCol="0" anchor="t"/>
          <a:lstStyle/>
          <a:p>
            <a:pPr algn="l" indent="0" marL="0">
              <a:lnSpc>
                <a:spcPts val="2600"/>
              </a:lnSpc>
              <a:buNone/>
            </a:pPr>
            <a:r>
              <a:rPr lang="ja-JP" altLang="en-US" sz="1500" dirty="0">
                <a:solidFill>
                  <a:srgbClr val="666666"/>
                </a:solidFill>
                <a:latin typeface="Yu Gothic" pitchFamily="34" charset="0"/>
                <a:ea typeface="Yu Gothic" pitchFamily="34" charset="-122"/>
                <a:cs typeface="Yu Gothic" pitchFamily="34" charset="-120"/>
              </a:rPr>
              <a:t>ChatGPTは、ある単語に続く可能性の高い単語は何かを学習し、確率論的に学習した単語の組み合わせを用いて回答を生成する。</a:t>
            </a:r>
            <a:endParaRPr lang="ja-JP" sz="1500" dirty="0"/>
          </a:p>
        </p:txBody>
      </p:sp>
      <p:sp>
        <p:nvSpPr>
          <p:cNvPr id="4" name="Text 2"/>
          <p:cNvSpPr/>
          <p:nvPr/>
        </p:nvSpPr>
        <p:spPr>
          <a:xfrm>
            <a:off x="548640" y="2743200"/>
            <a:ext cx="10972800" cy="2286000"/>
          </a:xfrm>
          <a:prstGeom prst="rect">
            <a:avLst/>
          </a:prstGeom>
          <a:noFill/>
          <a:ln/>
        </p:spPr>
        <p:txBody>
          <a:bodyPr wrap="square" rtlCol="0" anchor="t"/>
          <a:lstStyle/>
          <a:p>
            <a:pPr algn="l" marL="342900" indent="-342900">
              <a:lnSpc>
                <a:spcPts val="2200"/>
              </a:lnSpc>
              <a:buSzPct val="100000"/>
              <a:buChar char="•"/>
            </a:pPr>
            <a:r>
              <a:rPr lang="ja-JP" altLang="en-US" sz="1500" dirty="0">
                <a:solidFill>
                  <a:srgbClr val="333333"/>
                </a:solidFill>
                <a:latin typeface="Yu Gothic" pitchFamily="34" charset="0"/>
                <a:ea typeface="Yu Gothic" pitchFamily="34" charset="-122"/>
                <a:cs typeface="Yu Gothic" pitchFamily="34" charset="-120"/>
              </a:rPr>
              <a:t>同じプロンプトに対し、複数の回答が存在する。</a:t>
            </a:r>
            <a:endParaRPr lang="ja-JP" sz="1500" dirty="0"/>
          </a:p>
          <a:p>
            <a:pPr algn="l" marL="342900" indent="-342900">
              <a:lnSpc>
                <a:spcPts val="2200"/>
              </a:lnSpc>
              <a:buSzPct val="100000"/>
              <a:buChar char="•"/>
            </a:pPr>
            <a:endParaRPr lang="ja-JP" sz="1500" dirty="0"/>
          </a:p>
          <a:p>
            <a:pPr algn="l" marL="342900" indent="-342900">
              <a:lnSpc>
                <a:spcPts val="2200"/>
              </a:lnSpc>
              <a:buSzPct val="100000"/>
              <a:buChar char="•"/>
            </a:pPr>
            <a:r>
              <a:rPr lang="ja-JP" altLang="en-US" sz="1500" dirty="0">
                <a:solidFill>
                  <a:srgbClr val="333333"/>
                </a:solidFill>
                <a:latin typeface="Yu Gothic" pitchFamily="34" charset="0"/>
                <a:ea typeface="Yu Gothic" pitchFamily="34" charset="-122"/>
                <a:cs typeface="Yu Gothic" pitchFamily="34" charset="-120"/>
              </a:rPr>
              <a:t>一般的で無難な内容となる傾向がある。</a:t>
            </a:r>
            <a:endParaRPr lang="ja-JP" sz="1500" dirty="0"/>
          </a:p>
        </p:txBody>
      </p:sp>
      <p:sp>
        <p:nvSpPr>
          <p:cNvPr id="5" name="Text 3"/>
          <p:cNvSpPr/>
          <p:nvPr/>
        </p:nvSpPr>
        <p:spPr>
          <a:xfrm>
            <a:off x="274320" y="6400800"/>
            <a:ext cx="2743200" cy="274320"/>
          </a:xfrm>
          <a:prstGeom prst="rect">
            <a:avLst/>
          </a:prstGeom>
          <a:noFill/>
          <a:ln/>
        </p:spPr>
        <p:txBody>
          <a:bodyPr wrap="square" rtlCol="0" anchor="ctr"/>
          <a:lstStyle/>
          <a:p>
            <a:pPr indent="0" marL="0">
              <a:buNone/>
            </a:pPr>
            <a:r>
              <a:rPr lang="en-US" sz="1000" dirty="0">
                <a:solidFill>
                  <a:srgbClr val="999999"/>
                </a:solidFill>
              </a:rPr>
              <a:t>© Stella Co., Ltd.</a:t>
            </a:r>
            <a:endParaRPr lang="en-US" sz="1000" dirty="0"/>
          </a:p>
        </p:txBody>
      </p:sp>
      <p:sp>
        <p:nvSpPr>
          <p:cNvPr id="6" name="Text 4"/>
          <p:cNvSpPr/>
          <p:nvPr/>
        </p:nvSpPr>
        <p:spPr>
          <a:xfrm>
            <a:off x="10058400" y="182880"/>
            <a:ext cx="1828800" cy="274320"/>
          </a:xfrm>
          <a:prstGeom prst="rect">
            <a:avLst/>
          </a:prstGeom>
          <a:noFill/>
          <a:ln/>
        </p:spPr>
        <p:txBody>
          <a:bodyPr wrap="square" rtlCol="0" anchor="ctr"/>
          <a:lstStyle/>
          <a:p>
            <a:pPr algn="r" indent="0" marL="0">
              <a:buNone/>
            </a:pPr>
            <a:r>
              <a:rPr lang="en-US" sz="1000" dirty="0">
                <a:solidFill>
                  <a:srgbClr val="999999"/>
                </a:solidFill>
              </a:rPr>
              <a:t>Stella Co., Ltd.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731520"/>
          </a:xfrm>
          <a:prstGeom prst="rect">
            <a:avLst/>
          </a:prstGeom>
          <a:noFill/>
          <a:ln/>
        </p:spPr>
        <p:txBody>
          <a:bodyPr wrap="square" rtlCol="0" anchor="ctr"/>
          <a:lstStyle/>
          <a:p>
            <a:pPr algn="l" indent="0" marL="0">
              <a:buNone/>
            </a:pPr>
            <a:r>
              <a:rPr lang="ja-JP" altLang="en-US" sz="2400" b="1" dirty="0">
                <a:solidFill>
                  <a:srgbClr val="333333"/>
                </a:solidFill>
                <a:latin typeface="Yu Gothic" pitchFamily="34" charset="0"/>
                <a:ea typeface="Yu Gothic" pitchFamily="34" charset="-122"/>
                <a:cs typeface="Yu Gothic" pitchFamily="34" charset="-120"/>
              </a:rPr>
              <a:t>1-3. 実践</a:t>
            </a:r>
            <a:endParaRPr lang="ja-JP" sz="2400" dirty="0"/>
          </a:p>
        </p:txBody>
      </p:sp>
      <p:sp>
        <p:nvSpPr>
          <p:cNvPr id="3" name="Text 1"/>
          <p:cNvSpPr/>
          <p:nvPr/>
        </p:nvSpPr>
        <p:spPr>
          <a:xfrm>
            <a:off x="10058400" y="91440"/>
            <a:ext cx="1828800" cy="365760"/>
          </a:xfrm>
          <a:prstGeom prst="rect">
            <a:avLst/>
          </a:prstGeom>
          <a:noFill/>
          <a:ln/>
        </p:spPr>
        <p:txBody>
          <a:bodyPr wrap="square" rtlCol="0" anchor="ctr"/>
          <a:lstStyle/>
          <a:p>
            <a:pPr algn="r" indent="0" marL="0">
              <a:buNone/>
            </a:pPr>
            <a:r>
              <a:rPr lang="ja-JP" altLang="en-US" sz="1200" dirty="0">
                <a:solidFill>
                  <a:srgbClr val="666666"/>
                </a:solidFill>
                <a:latin typeface="Yu Gothic" pitchFamily="34" charset="0"/>
                <a:ea typeface="Yu Gothic" pitchFamily="34" charset="-122"/>
                <a:cs typeface="Yu Gothic" pitchFamily="34" charset="-120"/>
              </a:rPr>
              <a:t>目安時間：1分</a:t>
            </a:r>
            <a:endParaRPr lang="ja-JP" sz="1200" dirty="0"/>
          </a:p>
        </p:txBody>
      </p:sp>
      <p:sp>
        <p:nvSpPr>
          <p:cNvPr id="4" name="Text 2"/>
          <p:cNvSpPr/>
          <p:nvPr/>
        </p:nvSpPr>
        <p:spPr>
          <a:xfrm>
            <a:off x="548640" y="1371600"/>
            <a:ext cx="10972800" cy="3657600"/>
          </a:xfrm>
          <a:prstGeom prst="rect">
            <a:avLst/>
          </a:prstGeom>
          <a:noFill/>
          <a:ln/>
        </p:spPr>
        <p:txBody>
          <a:bodyPr wrap="square" rtlCol="0" anchor="t"/>
          <a:lstStyle/>
          <a:p>
            <a:pPr algn="l" marL="342900" indent="-342900">
              <a:lnSpc>
                <a:spcPts val="2200"/>
              </a:lnSpc>
              <a:buSzPct val="100000"/>
              <a:buChar char="•"/>
            </a:pPr>
            <a:r>
              <a:rPr lang="ja-JP" altLang="en-US" sz="1500" dirty="0">
                <a:solidFill>
                  <a:srgbClr val="333333"/>
                </a:solidFill>
                <a:latin typeface="Yu Gothic" pitchFamily="34" charset="0"/>
                <a:ea typeface="Yu Gothic" pitchFamily="34" charset="-122"/>
                <a:cs typeface="Yu Gothic" pitchFamily="34" charset="-120"/>
              </a:rPr>
              <a:t>ChatGPTで以下のプロンプトを実行してください。</a:t>
            </a:r>
            <a:endParaRPr lang="ja-JP" sz="1500" dirty="0"/>
          </a:p>
          <a:p>
            <a:pPr algn="l" marL="342900" indent="-342900">
              <a:lnSpc>
                <a:spcPts val="2200"/>
              </a:lnSpc>
              <a:buSzPct val="100000"/>
              <a:buChar char="•"/>
            </a:pPr>
            <a:endParaRPr lang="ja-JP" sz="1500" dirty="0"/>
          </a:p>
          <a:p>
            <a:pPr algn="l" marL="342900" indent="-342900">
              <a:lnSpc>
                <a:spcPts val="2200"/>
              </a:lnSpc>
              <a:buSzPct val="100000"/>
              <a:buChar char="•"/>
            </a:pPr>
            <a:endParaRPr lang="ja-JP" sz="1500" dirty="0"/>
          </a:p>
          <a:p>
            <a:pPr algn="l" marL="342900" indent="-342900">
              <a:lnSpc>
                <a:spcPts val="2200"/>
              </a:lnSpc>
              <a:buSzPct val="100000"/>
              <a:buChar char="•"/>
            </a:pPr>
            <a:endParaRPr lang="ja-JP" sz="1500" dirty="0"/>
          </a:p>
          <a:p>
            <a:pPr algn="l" marL="342900" indent="-342900">
              <a:lnSpc>
                <a:spcPts val="2200"/>
              </a:lnSpc>
              <a:buSzPct val="100000"/>
              <a:buChar char="•"/>
            </a:pPr>
            <a:r>
              <a:rPr lang="ja-JP" altLang="en-US" sz="1500" dirty="0">
                <a:solidFill>
                  <a:srgbClr val="333333"/>
                </a:solidFill>
                <a:latin typeface="Yu Gothic" pitchFamily="34" charset="0"/>
                <a:ea typeface="Yu Gothic" pitchFamily="34" charset="-122"/>
                <a:cs typeface="Yu Gothic" pitchFamily="34" charset="-120"/>
              </a:rPr>
              <a:t>中国経済について100字以内で教えてください。</a:t>
            </a:r>
            <a:endParaRPr lang="ja-JP" sz="1500" dirty="0"/>
          </a:p>
          <a:p>
            <a:pPr algn="l" marL="342900" indent="-342900">
              <a:lnSpc>
                <a:spcPts val="2200"/>
              </a:lnSpc>
              <a:buSzPct val="100000"/>
              <a:buChar char="•"/>
            </a:pPr>
            <a:endParaRPr lang="ja-JP" sz="1500" dirty="0"/>
          </a:p>
          <a:p>
            <a:pPr algn="l" marL="342900" indent="-342900">
              <a:lnSpc>
                <a:spcPts val="2200"/>
              </a:lnSpc>
              <a:buSzPct val="100000"/>
              <a:buChar char="•"/>
            </a:pPr>
            <a:endParaRPr lang="ja-JP" sz="1500" dirty="0"/>
          </a:p>
          <a:p>
            <a:pPr algn="l" marL="342900" indent="-342900">
              <a:lnSpc>
                <a:spcPts val="2200"/>
              </a:lnSpc>
              <a:buSzPct val="100000"/>
              <a:buChar char="•"/>
            </a:pPr>
            <a:endParaRPr lang="ja-JP" sz="1500" dirty="0"/>
          </a:p>
          <a:p>
            <a:pPr algn="l" marL="342900" indent="-342900">
              <a:lnSpc>
                <a:spcPts val="2200"/>
              </a:lnSpc>
              <a:buSzPct val="100000"/>
              <a:buChar char="•"/>
            </a:pPr>
            <a:r>
              <a:rPr lang="ja-JP" altLang="en-US" sz="1500" dirty="0">
                <a:solidFill>
                  <a:srgbClr val="333333"/>
                </a:solidFill>
                <a:latin typeface="Yu Gothic" pitchFamily="34" charset="0"/>
                <a:ea typeface="Yu Gothic" pitchFamily="34" charset="-122"/>
                <a:cs typeface="Yu Gothic" pitchFamily="34" charset="-120"/>
              </a:rPr>
              <a:t>回答を得られたら再度同じプロンプトを実行し、同一の質問に対しても異なる回答が返ってくることを確認しましょう。</a:t>
            </a:r>
            <a:endParaRPr lang="ja-JP" sz="1500" dirty="0"/>
          </a:p>
          <a:p>
            <a:pPr algn="l" marL="342900" indent="-342900">
              <a:lnSpc>
                <a:spcPts val="2200"/>
              </a:lnSpc>
              <a:buSzPct val="100000"/>
              <a:buChar char="•"/>
            </a:pPr>
            <a:endParaRPr lang="ja-JP" sz="1500" dirty="0"/>
          </a:p>
          <a:p>
            <a:pPr algn="l" marL="342900" indent="-342900">
              <a:lnSpc>
                <a:spcPts val="2200"/>
              </a:lnSpc>
              <a:buSzPct val="100000"/>
              <a:buChar char="•"/>
            </a:pPr>
            <a:endParaRPr lang="ja-JP" sz="1500" dirty="0"/>
          </a:p>
          <a:p>
            <a:pPr algn="l" marL="342900" indent="-342900">
              <a:lnSpc>
                <a:spcPts val="2200"/>
              </a:lnSpc>
              <a:buSzPct val="100000"/>
              <a:buChar char="•"/>
            </a:pPr>
            <a:endParaRPr lang="ja-JP" sz="1500" dirty="0"/>
          </a:p>
          <a:p>
            <a:pPr algn="l" marL="342900" indent="-342900">
              <a:lnSpc>
                <a:spcPts val="2200"/>
              </a:lnSpc>
              <a:buSzPct val="100000"/>
              <a:buChar char="•"/>
            </a:pPr>
            <a:r>
              <a:rPr lang="ja-JP" altLang="en-US" sz="1500" dirty="0">
                <a:solidFill>
                  <a:srgbClr val="333333"/>
                </a:solidFill>
                <a:latin typeface="Yu Gothic" pitchFamily="34" charset="0"/>
                <a:ea typeface="Yu Gothic" pitchFamily="34" charset="-122"/>
                <a:cs typeface="Yu Gothic" pitchFamily="34" charset="-120"/>
              </a:rPr>
              <a:t>中国経済について100字以内で教えてください。</a:t>
            </a:r>
            <a:endParaRPr lang="ja-JP" sz="1500" dirty="0"/>
          </a:p>
        </p:txBody>
      </p:sp>
      <p:sp>
        <p:nvSpPr>
          <p:cNvPr id="5" name="Text 3"/>
          <p:cNvSpPr/>
          <p:nvPr/>
        </p:nvSpPr>
        <p:spPr>
          <a:xfrm>
            <a:off x="274320" y="6400800"/>
            <a:ext cx="2743200" cy="274320"/>
          </a:xfrm>
          <a:prstGeom prst="rect">
            <a:avLst/>
          </a:prstGeom>
          <a:noFill/>
          <a:ln/>
        </p:spPr>
        <p:txBody>
          <a:bodyPr wrap="square" rtlCol="0" anchor="ctr"/>
          <a:lstStyle/>
          <a:p>
            <a:pPr indent="0" marL="0">
              <a:buNone/>
            </a:pPr>
            <a:r>
              <a:rPr lang="en-US" sz="1000" dirty="0">
                <a:solidFill>
                  <a:srgbClr val="999999"/>
                </a:solidFill>
              </a:rPr>
              <a:t>© Stella Co., Ltd.</a:t>
            </a:r>
            <a:endParaRPr lang="en-US" sz="1000" dirty="0"/>
          </a:p>
        </p:txBody>
      </p:sp>
      <p:sp>
        <p:nvSpPr>
          <p:cNvPr id="6" name="Text 4"/>
          <p:cNvSpPr/>
          <p:nvPr/>
        </p:nvSpPr>
        <p:spPr>
          <a:xfrm>
            <a:off x="10058400" y="182880"/>
            <a:ext cx="1828800" cy="274320"/>
          </a:xfrm>
          <a:prstGeom prst="rect">
            <a:avLst/>
          </a:prstGeom>
          <a:noFill/>
          <a:ln/>
        </p:spPr>
        <p:txBody>
          <a:bodyPr wrap="square" rtlCol="0" anchor="ctr"/>
          <a:lstStyle/>
          <a:p>
            <a:pPr algn="r" indent="0" marL="0">
              <a:buNone/>
            </a:pPr>
            <a:r>
              <a:rPr lang="en-US" sz="1000" dirty="0">
                <a:solidFill>
                  <a:srgbClr val="999999"/>
                </a:solidFill>
              </a:rPr>
              <a:t>Stella Co., Ltd.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640080"/>
          </a:xfrm>
          <a:prstGeom prst="rect">
            <a:avLst/>
          </a:prstGeom>
          <a:noFill/>
          <a:ln/>
        </p:spPr>
        <p:txBody>
          <a:bodyPr wrap="square" rtlCol="0" anchor="ctr"/>
          <a:lstStyle/>
          <a:p>
            <a:pPr algn="l" indent="0" marL="0">
              <a:buNone/>
            </a:pPr>
            <a:r>
              <a:rPr lang="ja-JP" altLang="en-US" sz="2400" b="1" dirty="0">
                <a:solidFill>
                  <a:srgbClr val="333333"/>
                </a:solidFill>
                <a:latin typeface="Yu Gothic" pitchFamily="34" charset="0"/>
                <a:ea typeface="Yu Gothic" pitchFamily="34" charset="-122"/>
                <a:cs typeface="Yu Gothic" pitchFamily="34" charset="-120"/>
              </a:rPr>
              <a:t>1-4. 効果的なプロンプトの書き方</a:t>
            </a:r>
            <a:endParaRPr lang="ja-JP" sz="2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74320" y="1371600"/>
          <a:ext cx="10972800" cy="914400"/>
        </p:xfrm>
        <a:graphic>
          <a:graphicData uri="http://schemas.openxmlformats.org/drawingml/2006/table">
            <a:tbl>
              <a:tblPr/>
              <a:tblGrid>
                <a:gridCol w="365760"/>
                <a:gridCol w="1188720"/>
                <a:gridCol w="3657600"/>
                <a:gridCol w="5760720"/>
              </a:tblGrid>
              <a:tr h="457200">
                <a:tc>
                  <a:txBody>
                    <a:bodyPr/>
                    <a:lstStyle/>
                    <a:p>
                      <a:pPr algn="ctr" indent="0" marL="0">
                        <a:buNone/>
                      </a:pPr>
                      <a:r>
                        <a:rPr lang="en-US" sz="1300" b="1" dirty="0">
                          <a:solidFill>
                            <a:srgbClr val="FFFFFF"/>
                          </a:solidFill>
                          <a:latin typeface="Yu Gothic" pitchFamily="34" charset="0"/>
                          <a:ea typeface="Yu Gothic" pitchFamily="34" charset="-122"/>
                          <a:cs typeface="Yu Gothic" pitchFamily="34" charset="-120"/>
                        </a:rPr>
                        <a:t>#</a:t>
                      </a:r>
                      <a:endParaRPr lang="en-US" sz="1300" dirty="0">
                        <a:latin typeface="Yu Gothic" charset="0"/>
                        <a:ea typeface="Yu Gothic" charset="0"/>
                        <a:cs typeface="Yu Gothic"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5FB8A6"/>
                    </a:solidFill>
                  </a:tcPr>
                </a:tc>
                <a:tc>
                  <a:txBody>
                    <a:bodyPr/>
                    <a:lstStyle/>
                    <a:p>
                      <a:pPr algn="ctr" indent="0" marL="0">
                        <a:buNone/>
                      </a:pPr>
                      <a:r>
                        <a:rPr lang="en-US" sz="1300" b="1" dirty="0">
                          <a:solidFill>
                            <a:srgbClr val="FFFFFF"/>
                          </a:solidFill>
                          <a:latin typeface="Yu Gothic" pitchFamily="34" charset="0"/>
                          <a:ea typeface="Yu Gothic" pitchFamily="34" charset="-122"/>
                          <a:cs typeface="Yu Gothic" pitchFamily="34" charset="-120"/>
                        </a:rPr>
                        <a:t>必要な要素</a:t>
                      </a:r>
                      <a:endParaRPr lang="en-US" sz="1300" dirty="0">
                        <a:latin typeface="Yu Gothic" charset="0"/>
                        <a:ea typeface="Yu Gothic" charset="0"/>
                        <a:cs typeface="Yu Gothic"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5FB8A6"/>
                    </a:solidFill>
                  </a:tcPr>
                </a:tc>
                <a:tc>
                  <a:txBody>
                    <a:bodyPr/>
                    <a:lstStyle/>
                    <a:p>
                      <a:pPr algn="ctr" indent="0" marL="0">
                        <a:buNone/>
                      </a:pPr>
                      <a:r>
                        <a:rPr lang="en-US" sz="1300" b="1" dirty="0">
                          <a:solidFill>
                            <a:srgbClr val="FFFFFF"/>
                          </a:solidFill>
                          <a:latin typeface="Yu Gothic" pitchFamily="34" charset="0"/>
                          <a:ea typeface="Yu Gothic" pitchFamily="34" charset="-122"/>
                          <a:cs typeface="Yu Gothic" pitchFamily="34" charset="-120"/>
                        </a:rPr>
                        <a:t>概要</a:t>
                      </a:r>
                      <a:endParaRPr lang="en-US" sz="1300" dirty="0">
                        <a:latin typeface="Yu Gothic" charset="0"/>
                        <a:ea typeface="Yu Gothic" charset="0"/>
                        <a:cs typeface="Yu Gothic"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5FB8A6"/>
                    </a:solidFill>
                  </a:tcPr>
                </a:tc>
                <a:tc>
                  <a:txBody>
                    <a:bodyPr/>
                    <a:lstStyle/>
                    <a:p>
                      <a:pPr algn="ctr" indent="0" marL="0">
                        <a:buNone/>
                      </a:pPr>
                      <a:r>
                        <a:rPr lang="en-US" sz="1300" b="1" dirty="0">
                          <a:solidFill>
                            <a:srgbClr val="FFFFFF"/>
                          </a:solidFill>
                          <a:latin typeface="Yu Gothic" pitchFamily="34" charset="0"/>
                          <a:ea typeface="Yu Gothic" pitchFamily="34" charset="-122"/>
                          <a:cs typeface="Yu Gothic" pitchFamily="34" charset="-120"/>
                        </a:rPr>
                        <a:t>イメージ</a:t>
                      </a:r>
                      <a:endParaRPr lang="en-US" sz="1300" dirty="0">
                        <a:latin typeface="Yu Gothic" charset="0"/>
                        <a:ea typeface="Yu Gothic" charset="0"/>
                        <a:cs typeface="Yu Gothic"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5FB8A6"/>
                    </a:solidFill>
                  </a:tcPr>
                </a:tc>
              </a:tr>
              <a:tr h="1371600">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1</a:t>
                      </a:r>
                      <a:endParaRPr lang="en-US" sz="1100" dirty="0">
                        <a:latin typeface="Yu Gothic" charset="0"/>
                        <a:ea typeface="Yu Gothic" charset="0"/>
                        <a:cs typeface="Yu Gothic" charset="0"/>
                      </a:endParaRPr>
                    </a:p>
                  </a:txBody>
                  <a:tcPr marL="73152" marR="73152" marT="73152" marB="73152"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具体的に明記</a:t>
                      </a:r>
                      <a:endParaRPr lang="en-US" sz="1100" dirty="0">
                        <a:latin typeface="Yu Gothic" charset="0"/>
                        <a:ea typeface="Yu Gothic" charset="0"/>
                        <a:cs typeface="Yu Gothic" charset="0"/>
                      </a:endParaRPr>
                    </a:p>
                  </a:txBody>
                  <a:tcPr marL="73152" marR="73152" marT="73152" marB="73152"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求める情報は具体的に指定する。また、「プレゼンの原稿が欲しい」「メール文を作成してほしい」など要求は明記する。</a:t>
                      </a:r>
                      <a:endParaRPr lang="en-US" sz="1100" dirty="0">
                        <a:latin typeface="Yu Gothic" charset="0"/>
                        <a:ea typeface="Yu Gothic" charset="0"/>
                        <a:cs typeface="Yu Gothic" charset="0"/>
                      </a:endParaRPr>
                    </a:p>
                  </a:txBody>
                  <a:tcPr marL="73152" marR="73152" marT="73152" marB="73152"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00000"/>
                          </a:solidFill>
                          <a:latin typeface="Yu Gothic" pitchFamily="34" charset="0"/>
                          <a:ea typeface="Yu Gothic" pitchFamily="34" charset="-122"/>
                          <a:cs typeface="Yu Gothic" pitchFamily="34" charset="-120"/>
                        </a:rPr>
                        <a:t>「2000年代のインドの経済状況について説明する原稿を、日本の製造業との関係性に焦点を当てて作成してほしい。」</a:t>
                      </a:r>
                      <a:endParaRPr lang="en-US" sz="1000" dirty="0">
                        <a:latin typeface="Yu Gothic" charset="0"/>
                        <a:ea typeface="Yu Gothic" charset="0"/>
                        <a:cs typeface="Yu Gothic" charset="0"/>
                      </a:endParaRPr>
                    </a:p>
                  </a:txBody>
                  <a:tcPr marL="73152" marR="73152" marT="73152" marB="73152"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1371600">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2</a:t>
                      </a:r>
                      <a:endParaRPr lang="en-US" sz="1100" dirty="0">
                        <a:latin typeface="Yu Gothic" charset="0"/>
                        <a:ea typeface="Yu Gothic" charset="0"/>
                        <a:cs typeface="Yu Gothic" charset="0"/>
                      </a:endParaRPr>
                    </a:p>
                  </a:txBody>
                  <a:tcPr marL="73152" marR="73152" marT="73152" marB="73152"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背景情報を提供</a:t>
                      </a:r>
                      <a:endParaRPr lang="en-US" sz="1100" dirty="0">
                        <a:latin typeface="Yu Gothic" charset="0"/>
                        <a:ea typeface="Yu Gothic" charset="0"/>
                        <a:cs typeface="Yu Gothic" charset="0"/>
                      </a:endParaRPr>
                    </a:p>
                  </a:txBody>
                  <a:tcPr marL="73152" marR="73152" marT="73152" marB="73152"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ChatGPTが、質問理由の使用意図や関連の背景情報を把握するために役立つ、受け手の立場、目的などの背景情報を提供する。</a:t>
                      </a:r>
                      <a:endParaRPr lang="en-US" sz="1100" dirty="0">
                        <a:latin typeface="Yu Gothic" charset="0"/>
                        <a:ea typeface="Yu Gothic" charset="0"/>
                        <a:cs typeface="Yu Gothic" charset="0"/>
                      </a:endParaRPr>
                    </a:p>
                  </a:txBody>
                  <a:tcPr marL="73152" marR="73152" marT="73152" marB="73152"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00000"/>
                          </a:solidFill>
                          <a:latin typeface="Yu Gothic" pitchFamily="34" charset="0"/>
                          <a:ea typeface="Yu Gothic" pitchFamily="34" charset="-122"/>
                          <a:cs typeface="Yu Gothic" pitchFamily="34" charset="-120"/>
                        </a:rPr>
                        <a:t>「わたしは医学生で、インド経済について理解したいです。医学用語で説明してください。」</a:t>
                      </a:r>
                      <a:endParaRPr lang="en-US" sz="1000" dirty="0">
                        <a:latin typeface="Yu Gothic" charset="0"/>
                        <a:ea typeface="Yu Gothic" charset="0"/>
                        <a:cs typeface="Yu Gothic" charset="0"/>
                      </a:endParaRPr>
                    </a:p>
                  </a:txBody>
                  <a:tcPr marL="73152" marR="73152" marT="73152" marB="73152"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1371600">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3</a:t>
                      </a:r>
                      <a:endParaRPr lang="en-US" sz="1100" dirty="0">
                        <a:latin typeface="Yu Gothic" charset="0"/>
                        <a:ea typeface="Yu Gothic" charset="0"/>
                        <a:cs typeface="Yu Gothic" charset="0"/>
                      </a:endParaRPr>
                    </a:p>
                  </a:txBody>
                  <a:tcPr marL="73152" marR="73152" marT="73152" marB="73152"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構造化</a:t>
                      </a:r>
                      <a:endParaRPr lang="en-US" sz="1100" dirty="0">
                        <a:latin typeface="Yu Gothic" charset="0"/>
                        <a:ea typeface="Yu Gothic" charset="0"/>
                        <a:cs typeface="Yu Gothic" charset="0"/>
                      </a:endParaRPr>
                    </a:p>
                  </a:txBody>
                  <a:tcPr marL="73152" marR="73152" marT="73152" marB="73152"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プロンプトを構造化することで内容を自分が理解しやすく し、適切な回答を得るために必要な情報の提供にも、番号や箇条書きで整理も使いやすい。</a:t>
                      </a:r>
                      <a:endParaRPr lang="en-US" sz="1100" dirty="0">
                        <a:latin typeface="Yu Gothic" charset="0"/>
                        <a:ea typeface="Yu Gothic" charset="0"/>
                        <a:cs typeface="Yu Gothic" charset="0"/>
                      </a:endParaRPr>
                    </a:p>
                  </a:txBody>
                  <a:tcPr marL="73152" marR="73152" marT="73152" marB="73152"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00000"/>
                          </a:solidFill>
                          <a:latin typeface="Yu Gothic" pitchFamily="34" charset="0"/>
                          <a:ea typeface="Yu Gothic" pitchFamily="34" charset="-122"/>
                          <a:cs typeface="Yu Gothic" pitchFamily="34" charset="-120"/>
                        </a:rPr>
                        <a:t>「例外： 2000年代のインドの経済状況について 詳細： ・500字以内で回答」</a:t>
                      </a:r>
                      <a:endParaRPr lang="en-US" sz="1000" dirty="0">
                        <a:latin typeface="Yu Gothic" charset="0"/>
                        <a:ea typeface="Yu Gothic" charset="0"/>
                        <a:cs typeface="Yu Gothic" charset="0"/>
                      </a:endParaRPr>
                    </a:p>
                  </a:txBody>
                  <a:tcPr marL="73152" marR="73152" marT="73152" marB="73152"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bl>
          </a:graphicData>
        </a:graphic>
      </p:graphicFrame>
      <p:sp>
        <p:nvSpPr>
          <p:cNvPr id="4" name="Text 1"/>
          <p:cNvSpPr/>
          <p:nvPr/>
        </p:nvSpPr>
        <p:spPr>
          <a:xfrm>
            <a:off x="274320" y="6400800"/>
            <a:ext cx="2743200" cy="274320"/>
          </a:xfrm>
          <a:prstGeom prst="rect">
            <a:avLst/>
          </a:prstGeom>
          <a:noFill/>
          <a:ln/>
        </p:spPr>
        <p:txBody>
          <a:bodyPr wrap="square" rtlCol="0" anchor="ctr"/>
          <a:lstStyle/>
          <a:p>
            <a:pPr indent="0" marL="0">
              <a:buNone/>
            </a:pPr>
            <a:r>
              <a:rPr lang="en-US" sz="1000" dirty="0">
                <a:solidFill>
                  <a:srgbClr val="999999"/>
                </a:solidFill>
              </a:rPr>
              <a:t>© Stella Co., Ltd.</a:t>
            </a:r>
            <a:endParaRPr lang="en-US" sz="1000" dirty="0"/>
          </a:p>
        </p:txBody>
      </p:sp>
      <p:sp>
        <p:nvSpPr>
          <p:cNvPr id="5" name="Text 2"/>
          <p:cNvSpPr/>
          <p:nvPr/>
        </p:nvSpPr>
        <p:spPr>
          <a:xfrm>
            <a:off x="10058400" y="182880"/>
            <a:ext cx="1828800" cy="274320"/>
          </a:xfrm>
          <a:prstGeom prst="rect">
            <a:avLst/>
          </a:prstGeom>
          <a:noFill/>
          <a:ln/>
        </p:spPr>
        <p:txBody>
          <a:bodyPr wrap="square" rtlCol="0" anchor="ctr"/>
          <a:lstStyle/>
          <a:p>
            <a:pPr algn="r" indent="0" marL="0">
              <a:buNone/>
            </a:pPr>
            <a:r>
              <a:rPr lang="en-US" sz="1000" dirty="0">
                <a:solidFill>
                  <a:srgbClr val="999999"/>
                </a:solidFill>
              </a:rPr>
              <a:t>Stella Co., Ltd.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640080"/>
          </a:xfrm>
          <a:prstGeom prst="rect">
            <a:avLst/>
          </a:prstGeom>
          <a:noFill/>
          <a:ln/>
        </p:spPr>
        <p:txBody>
          <a:bodyPr wrap="square" rtlCol="0" anchor="ctr"/>
          <a:lstStyle/>
          <a:p>
            <a:pPr algn="l" indent="0" marL="0">
              <a:buNone/>
            </a:pPr>
            <a:r>
              <a:rPr lang="ja-JP" altLang="en-US" sz="2400" b="1" dirty="0">
                <a:solidFill>
                  <a:srgbClr val="333333"/>
                </a:solidFill>
                <a:latin typeface="Yu Gothic" pitchFamily="34" charset="0"/>
                <a:ea typeface="Yu Gothic" pitchFamily="34" charset="-122"/>
                <a:cs typeface="Yu Gothic" pitchFamily="34" charset="-120"/>
              </a:rPr>
              <a:t>3-3. フォーマット例 [様々なジャンル]</a:t>
            </a:r>
            <a:endParaRPr lang="ja-JP" sz="2400" dirty="0"/>
          </a:p>
        </p:txBody>
      </p:sp>
      <p:sp>
        <p:nvSpPr>
          <p:cNvPr id="3" name="Shape 1"/>
          <p:cNvSpPr/>
          <p:nvPr/>
        </p:nvSpPr>
        <p:spPr>
          <a:xfrm>
            <a:off x="731520" y="1371600"/>
            <a:ext cx="10698480" cy="4572000"/>
          </a:xfrm>
          <a:prstGeom prst="rect">
            <a:avLst/>
          </a:prstGeom>
          <a:solidFill>
            <a:srgbClr val="2D2D2D"/>
          </a:solidFill>
          <a:ln/>
        </p:spPr>
      </p:sp>
      <p:sp>
        <p:nvSpPr>
          <p:cNvPr id="4" name="Text 2"/>
          <p:cNvSpPr/>
          <p:nvPr/>
        </p:nvSpPr>
        <p:spPr>
          <a:xfrm>
            <a:off x="914400" y="1554480"/>
            <a:ext cx="10332720" cy="4206240"/>
          </a:xfrm>
          <a:prstGeom prst="rect">
            <a:avLst/>
          </a:prstGeom>
          <a:noFill/>
          <a:ln/>
        </p:spPr>
        <p:txBody>
          <a:bodyPr wrap="square" rtlCol="0" anchor="t"/>
          <a:lstStyle/>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献立を考えるプロンプトのフォーマット例</a:t>
            </a:r>
            <a:endParaRPr lang="en-US" sz="1300" dirty="0"/>
          </a:p>
          <a:p>
            <a:pPr algn="l" indent="0" marL="0">
              <a:lnSpc>
                <a:spcPts val="2000"/>
              </a:lnSpc>
              <a:buNone/>
            </a:pPr>
            <a:endParaRPr lang="en-US" sz="1300" dirty="0"/>
          </a:p>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プロンプト例</a:t>
            </a:r>
            <a:endParaRPr lang="en-US" sz="1300" dirty="0"/>
          </a:p>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#命令:</a:t>
            </a:r>
            <a:endParaRPr lang="en-US" sz="1300" dirty="0"/>
          </a:p>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あなたは料理のプロのシェフです。私のために今日の夕食の献立を考えてください。以下の条件を考慮してください</a:t>
            </a:r>
            <a:endParaRPr lang="en-US" sz="1300" dirty="0"/>
          </a:p>
          <a:p>
            <a:pPr algn="l" indent="0" marL="0">
              <a:lnSpc>
                <a:spcPts val="2000"/>
              </a:lnSpc>
              <a:buNone/>
            </a:pPr>
            <a:endParaRPr lang="en-US" sz="1300" dirty="0"/>
          </a:p>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#条件</a:t>
            </a:r>
            <a:endParaRPr lang="en-US" sz="1300" dirty="0"/>
          </a:p>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・使用する食材：</a:t>
            </a:r>
            <a:endParaRPr lang="en-US" sz="1300" dirty="0"/>
          </a:p>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・料理の種類：</a:t>
            </a:r>
            <a:endParaRPr lang="en-US" sz="1300" dirty="0"/>
          </a:p>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・時間：</a:t>
            </a:r>
            <a:endParaRPr lang="en-US" sz="1300" dirty="0"/>
          </a:p>
        </p:txBody>
      </p:sp>
      <p:sp>
        <p:nvSpPr>
          <p:cNvPr id="5" name="Text 3"/>
          <p:cNvSpPr/>
          <p:nvPr/>
        </p:nvSpPr>
        <p:spPr>
          <a:xfrm>
            <a:off x="274320" y="6400800"/>
            <a:ext cx="2743200" cy="274320"/>
          </a:xfrm>
          <a:prstGeom prst="rect">
            <a:avLst/>
          </a:prstGeom>
          <a:noFill/>
          <a:ln/>
        </p:spPr>
        <p:txBody>
          <a:bodyPr wrap="square" rtlCol="0" anchor="ctr"/>
          <a:lstStyle/>
          <a:p>
            <a:pPr indent="0" marL="0">
              <a:buNone/>
            </a:pPr>
            <a:r>
              <a:rPr lang="en-US" sz="1000" dirty="0">
                <a:solidFill>
                  <a:srgbClr val="999999"/>
                </a:solidFill>
              </a:rPr>
              <a:t>© Stella Co., Ltd.</a:t>
            </a:r>
            <a:endParaRPr lang="en-US" sz="1000" dirty="0"/>
          </a:p>
        </p:txBody>
      </p:sp>
      <p:sp>
        <p:nvSpPr>
          <p:cNvPr id="6" name="Text 4"/>
          <p:cNvSpPr/>
          <p:nvPr/>
        </p:nvSpPr>
        <p:spPr>
          <a:xfrm>
            <a:off x="10058400" y="182880"/>
            <a:ext cx="1828800" cy="274320"/>
          </a:xfrm>
          <a:prstGeom prst="rect">
            <a:avLst/>
          </a:prstGeom>
          <a:noFill/>
          <a:ln/>
        </p:spPr>
        <p:txBody>
          <a:bodyPr wrap="square" rtlCol="0" anchor="ctr"/>
          <a:lstStyle/>
          <a:p>
            <a:pPr algn="r" indent="0" marL="0">
              <a:buNone/>
            </a:pPr>
            <a:r>
              <a:rPr lang="en-US" sz="1000" dirty="0">
                <a:solidFill>
                  <a:srgbClr val="999999"/>
                </a:solidFill>
              </a:rPr>
              <a:t>Stella Co., Ltd.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Miyabi Slide Generator</dc:creator>
  <cp:lastModifiedBy>Miyabi Slide Generator</cp:lastModifiedBy>
  <cp:revision>1</cp:revision>
  <dcterms:created xsi:type="dcterms:W3CDTF">2025-11-13T03:25:33Z</dcterms:created>
  <dcterms:modified xsi:type="dcterms:W3CDTF">2025-11-13T03:25:33Z</dcterms:modified>
</cp:coreProperties>
</file>